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67" r:id="rId15"/>
    <p:sldId id="264" r:id="rId6"/>
    <p:sldId id="268" r:id="rId16"/>
    <p:sldId id="265" r:id="rId7"/>
    <p:sldId id="266" r:id="rId8"/>
    <p:sldId id="259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DB6A7-C9B2-DF49-9489-D8AC7C8B8E40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16F14-EF25-7446-BF5D-1AE9AFD51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315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(0:00–0:45). Cumprimentar a banca. Dizer título, seu nome e o do orientador.</a:t>
            </a:r>
          </a:p>
          <a:p>
            <a:r>
              <a:t>Frase de gancho: "Toda reunião produz decisões, mas quase nenhuma produz um registro</a:t>
            </a:r>
          </a:p>
          <a:p>
            <a:r>
              <a:t>confiável dessas decisões. Este trabalho ataca exatamente essa lacuna."</a:t>
            </a:r>
          </a:p>
          <a:p>
            <a:r>
              <a:t>Anunciar o roteiro: problema, método, resultados, limitações e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INTRODUÇÃO (0:45–3:15). Não leia os bullets.</a:t>
            </a:r>
          </a:p>
          <a:p>
            <a:r>
              <a:t>1) Problema (40s): a ata manual é o gargalo; o que se perde não é o áudio, é a decisão.</a:t>
            </a:r>
          </a:p>
          <a:p>
            <a:r>
              <a:t>2) Contexto (40s): três famílias de modelos maduras — ASR, embeddings de sentença, seq2seq —</a:t>
            </a:r>
          </a:p>
          <a:p>
            <a:r>
              <a:t>   que até então eram usadas isoladamente.</a:t>
            </a:r>
          </a:p>
          <a:p>
            <a:r>
              <a:t>3) Lacuna (30s): o diferencial não é "transcrever", é fazê-lo de forma auditável, em português</a:t>
            </a:r>
          </a:p>
          <a:p>
            <a:r>
              <a:t>   e sem enviar o áudio para terceiros.</a:t>
            </a:r>
          </a:p>
          <a:p>
            <a:r>
              <a:t>4) Objetivo (30s): leia o objetivo geral devagar — é a frase que a banca vai cobrar no final.</a:t>
            </a:r>
          </a:p>
          <a:p>
            <a:r>
              <a:t>Transição: "Para chegar a isso, estruturei o trabalho como engenharia de pipeline."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METODOLOGIA – PIPELINE (3:15–6:00). Este é o slide central: ande pelas cinco etapas.</a:t>
            </a:r>
          </a:p>
          <a:p>
            <a:r>
              <a:t>Ancoragem: "A ideia é ir do sinal sonoro ao texto, do texto a tópicos, e de tópicos à decisão."</a:t>
            </a:r>
          </a:p>
          <a:p>
            <a:r>
              <a:t>Aponte a Figura 1 com a mão enquanto percorre os estágios — ela carrega o fluxo, e o texto</a:t>
            </a:r>
          </a:p>
          <a:p>
            <a:r>
              <a:t>carrega os parâmetros. Não leia os dois.</a:t>
            </a:r>
          </a:p>
          <a:p>
            <a:r>
              <a:t>1) Pré-processamento (30s): lixo entra, lixo sai. Blocos de 60 s porque gravações longas</a:t>
            </a:r>
          </a:p>
          <a:p>
            <a:r>
              <a:t>   estouravam a memória.</a:t>
            </a:r>
          </a:p>
          <a:p>
            <a:r>
              <a:t>2) ASR (40s): beam search custa tempo mas reduz erro; VAD evita alucinação em silêncio;</a:t>
            </a:r>
          </a:p>
          <a:p>
            <a:r>
              <a:t>   fixar pt evita troca espúria de idioma.</a:t>
            </a:r>
          </a:p>
          <a:p>
            <a:r>
              <a:t>3) Embeddings (35s): a sobreposição evita cortar uma ideia ao meio.</a:t>
            </a:r>
          </a:p>
          <a:p>
            <a:r>
              <a:t>4) Agrupamento (35s): cosseno com limiar 0,78; guloso, decisão consciente (volta nas limitações).</a:t>
            </a:r>
          </a:p>
          <a:p>
            <a:r>
              <a:t>5) Sumarização (30s): o resumo não é livre, é guiado por três perguntas fixas. O sumarizador é</a:t>
            </a:r>
          </a:p>
          <a:p>
            <a:r>
              <a:t>   CONFIGURÁVEL: T5 local, ou API externa — e essa escolha troca privacidade por qualidade.</a:t>
            </a:r>
          </a:p>
          <a:p>
            <a:r>
              <a:t>&gt;&gt;&gt; RESSALVA sobre a Figura 1: a caixa "Armazenar no Vetor DB" representa o desenho da arquitetura,</a:t>
            </a:r>
          </a:p>
          <a:p>
            <a:r>
              <a:t>    não a implementação atual. No código os blocos e embeddings ficam em memória e os segmentos são</a:t>
            </a:r>
          </a:p>
          <a:p>
            <a:r>
              <a:t>    persistidos em JSON em disco — não há banco vetorial. Se perguntarem qual banco vetorial você usa,</a:t>
            </a:r>
          </a:p>
          <a:p>
            <a:r>
              <a:t>    responda: "nenhum ainda; o agrupamento é feito em NumPy sobre os vetores em memória, e o índice</a:t>
            </a:r>
          </a:p>
          <a:p>
            <a:r>
              <a:t>    vetorial é o caminho previsto para escalar a busca."</a:t>
            </a:r>
          </a:p>
          <a:p>
            <a:r>
              <a:t>Se o tempo apertar, resuma 1 e 5 e preserve 3 e 4 — é onde está a contribuição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METODOLOGIA – RIGOR (6:00–7:45). Aqui você mostra método, não código.</a:t>
            </a:r>
          </a:p>
          <a:p>
            <a:r>
              <a:t>Mensagem única: "As decisões de arquitetura foram tomadas para que o experimento fosse reprodutível."</a:t>
            </a:r>
          </a:p>
          <a:p>
            <a:r>
              <a:t>A Figura 2 mostra as quatro camadas; use-a para dizer que o núcleo não sabe que existe interface.</a:t>
            </a:r>
          </a:p>
          <a:p>
            <a:r>
              <a:t>1) Camadas (25s): o núcleo é independente das formas de acionamento.</a:t>
            </a:r>
          </a:p>
          <a:p>
            <a:r>
              <a:t>2) Configuração externalizada (30s): argumento mais forte de rigor — outro pesquisador reproduz</a:t>
            </a:r>
          </a:p>
          <a:p>
            <a:r>
              <a:t>   a rodada sem tocar no código.</a:t>
            </a:r>
          </a:p>
          <a:p>
            <a:r>
              <a:t>3) Instrumentação (25s): sem medir por etapa não se sabe onde está o custo.</a:t>
            </a:r>
          </a:p>
          <a:p>
            <a:r>
              <a:t>4) Testes (20s): dublês de modelos permitem testar a lógica sem baixar modelos pesados.</a:t>
            </a:r>
          </a:p>
          <a:p>
            <a:r>
              <a:t>5) Protocolo (20s): os perfis de áudio não são arbitrários — cada um estressa uma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– PARTE 1 (7:45–10:05). Mostre entrega, não esforço.</a:t>
            </a:r>
          </a:p>
          <a:p>
            <a:r>
              <a:t>Abra com: "O resultado primário é um sistema que roda ponta a ponta — e eu consigo mostrar a saída dele."</a:t>
            </a:r>
          </a:p>
          <a:p>
            <a:r>
              <a:t>1) Três vias de acesso (30s): a mesma lógica servida de três formas comprova o isolamento do núcleo.</a:t>
            </a:r>
          </a:p>
          <a:p>
            <a:r>
              <a:t>2) Saídas (60s): detalhe-se aqui. A marcação temporal é o que torna o resumo auditável: cada</a:t>
            </a:r>
          </a:p>
          <a:p>
            <a:r>
              <a:t>   afirmação do resumo pode ser rastreada até o minuto do áudio. É o ponto que diferencia de uma</a:t>
            </a:r>
          </a:p>
          <a:p>
            <a:r>
              <a:t>   ferramenta de caixa-preta.</a:t>
            </a:r>
          </a:p>
          <a:p>
            <a:r>
              <a:t>3) Robustez (20s): cite o bug real de memória em gravações longas e como foi resolvido.</a:t>
            </a:r>
          </a:p>
          <a:p>
            <a:r>
              <a:t>4) Medição (20s): os scripts existem para que o resultado não dependa de uma execução isolada.</a:t>
            </a:r>
          </a:p>
          <a:p>
            <a:r>
              <a:t>5) Discussão (20s): troca do FAISS por NumPy sem tocar na interface = prova da modularidade.</a:t>
            </a:r>
          </a:p>
          <a:p>
            <a:r>
              <a:t>Se a banca pedir demonstração, tenha um PDF de saída aberto numa aba.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– PARTE 2 (10:05–12:00).</a:t>
            </a:r>
          </a:p>
          <a:p/>
          <a:p>
            <a:r>
              <a:t>&gt;&gt;&gt; PROCEDÊNCIA DA TABELA — saiba responder se perguntarem:</a:t>
            </a:r>
          </a:p>
          <a:p>
            <a:r>
              <a:t>    . Pré-processamento: MEDIDO, executando a etapa real do pipeline (librosa) sobre sinal de</a:t>
            </a:r>
          </a:p>
          <a:p>
            <a:r>
              <a:t>      44,1 kHz, em CPU x86-64 de 4 núcleos a 2,1 GHz, sem GPU. Custa ~1% da duração do áudio.</a:t>
            </a:r>
          </a:p>
          <a:p>
            <a:r>
              <a:t>    . Blocos semânticos: CALCULADOS exatamente a partir do código (chunk_size=500, overlap=50,</a:t>
            </a:r>
          </a:p>
          <a:p>
            <a:r>
              <a:t>      passo de 450 tokens). Não dependem de hardware.</a:t>
            </a:r>
          </a:p>
          <a:p>
            <a:r>
              <a:t>    . Transcrição, semântica e sumarização: PROJETADOS para a mesma classe de hardware.</a:t>
            </a:r>
          </a:p>
          <a:p>
            <a:r>
              <a:t>    Se perguntarem "esses tempos foram medidos?", responda: "o pré-processamento e os blocos sim;</a:t>
            </a:r>
          </a:p>
          <a:p>
            <a:r>
              <a:t>    os demais são projeção da mesma classe de hardware, e a rodada controlada é o passo imediato."</a:t>
            </a:r>
          </a:p>
          <a:p>
            <a:r>
              <a:t>    NUNCA afirme que a linha inteira foi medida.</a:t>
            </a:r>
          </a:p>
          <a:p/>
          <a:p>
            <a:r>
              <a:t>1) Tabela (40s): não leia célula por célula. Aponte a linha da transcrição e a da sumarização.</a:t>
            </a:r>
          </a:p>
          <a:p>
            <a:r>
              <a:t>2) Achado (30s) — é o ponto alto do slide: "o custo é dominado pela transcrição e cresce com a</a:t>
            </a:r>
          </a:p>
          <a:p>
            <a:r>
              <a:t>   duração; a sumarização não cresce, porque eu limito o contexto em 300 tokens. A consequência</a:t>
            </a:r>
          </a:p>
          <a:p>
            <a:r>
              <a:t>   é contraintuitiva: quanto maior a reunião, melhor o fator de tempo real."</a:t>
            </a:r>
          </a:p>
          <a:p>
            <a:r>
              <a:t>3) Limitações (20s): comece pela primeira — abaixo de 3 minutos só existe uma janela, então o</a:t>
            </a:r>
          </a:p>
          <a:p>
            <a:r>
              <a:t>   agrupamento não tem o que agrupar. Mostra que você conhece a aritmética do próprio parâmetro.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CONSIDERAÇÕES FINAIS (12:00–13:30). Feche o arco: retome o objetivo do slide 3.</a:t>
            </a:r>
          </a:p>
          <a:p>
            <a:r>
              <a:t>1) Conclusão (30s): responda explicitamente "o objetivo foi atingido?" — e qualifique: no nível de</a:t>
            </a:r>
          </a:p>
          <a:p>
            <a:r>
              <a:t>   sistema sim; no nível de qualidade do resumo, parcialmente.</a:t>
            </a:r>
          </a:p>
          <a:p>
            <a:r>
              <a:t>2) Contribuição (25s): auditabilidade e privacidade CONFIGURÁVEL são os dois diferenciais.</a:t>
            </a:r>
          </a:p>
          <a:p>
            <a:r>
              <a:t>   Cuidado: não diga "o áudio nunca sai da máquina" de forma absoluta — diga que o modo local</a:t>
            </a:r>
          </a:p>
          <a:p>
            <a:r>
              <a:t>   mantém tudo na máquina e que usar API externa é uma escolha explícita de configuração.</a:t>
            </a:r>
          </a:p>
          <a:p>
            <a:r>
              <a:t>3) Aprendizados (20s): mostra maturidade de engenharia.</a:t>
            </a:r>
          </a:p>
          <a:p>
            <a:r>
              <a:t>4) Trabalhos futuros (25s): não liste os quatro com o mesmo peso — destaque o sumarizador em</a:t>
            </a:r>
          </a:p>
          <a:p>
            <a:r>
              <a:t>   português como a próxima prioridade, porque é o gargalo que você identificou nos resultados.</a:t>
            </a:r>
          </a:p>
          <a:p>
            <a:r>
              <a:t>Frase de encerramento: "Em resumo: o sistema já transforma reunião falada em documentação</a:t>
            </a:r>
          </a:p>
          <a:p>
            <a:r>
              <a:t>rastreável; o próximo passo é elevar a qualidade do resumo ao nível já alcançado pela transcrição."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(13:30–13:45). Não leia a lista. Diga apenas:</a:t>
            </a:r>
          </a:p>
          <a:p>
            <a:r>
              <a:t>"O trabalho se apoia em quatro referências centrais: Whisper para reconhecimento de fala,</a:t>
            </a:r>
          </a:p>
          <a:p>
            <a:r>
              <a:t>Sentence-BERT para representação semântica, T5 para sumarização e Alemi e Ginsparg para</a:t>
            </a:r>
          </a:p>
          <a:p>
            <a:r>
              <a:t>segmentação textual por embeddings." 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AGRADECIMENTOS E FECHAMENTO (13:45–14:00). Agradeça em uma frase e abra para perguntas:</a:t>
            </a:r>
          </a:p>
          <a:p>
            <a:r>
              <a:t>"Agradeço ao Mackenzie e ao meu orientador. Fico à disposição para as perguntas."</a:t>
            </a:r>
          </a:p>
          <a:p>
            <a:r>
              <a:t>Guarde 1 minuto de folga. Perguntas prováveis estão no roteiro (seção "Banco de perguntas").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650BF-24BF-B617-6F88-0733644CA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761BFE-20BA-4188-7B71-F49DEF5AE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AE1492-D20C-AB4A-B418-D7D29C3A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A54ACF-10F7-6F9A-89C8-98DF2B8D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3A94D-4A1E-ABE9-659E-8E71922F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55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E6F7D-2591-3CEE-0FD7-06878835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08380A-12B6-7456-F1C7-6AB094FDD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6BC2D4-7436-824E-3C64-7C970FF9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AB7E58-63E9-8DDD-8597-503A1DAC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8AC0BC-196A-1A9C-B933-765C2855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D07F9-AD4A-B4E3-1AA2-06C66D85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E4267F-6A07-D8D6-C638-DB42F35C7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053BED-3A76-9D51-45BE-E50B615E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07B8D4-4A0B-DE55-DC07-AE3F0F82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7BA66B-D63C-4DB1-094B-A5DCAE69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70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D96FF-49E2-DA78-025B-8C097970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E1CEA5-4748-33FA-CED2-4FCA6CA81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362449-2BA1-475B-61F7-DFCABC09F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B1EDB3-6ECD-BD22-76CD-F6F8A02C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9BB25-B6FE-83A1-F213-017A460B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183661-0824-9BEE-9739-DEF0F1EB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18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02BB6-56B4-4B9F-4A44-218E60E7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544CCE-82DC-4918-33D4-F1A5BC54B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0AE181-BDE1-FDE3-F89B-39B93E57F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6344CC-8B45-B513-9D24-E28C3E896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6558D5-A747-F028-DDAF-E8EFDC154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7FBC2A-1F37-EFF9-2843-6276FDF4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E9B4E0-DAF9-D3FC-11FC-A1266445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F9F77F3-99CF-79DD-73ED-B0E75691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88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76AC4-7ACC-5894-0764-4F22C18A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A70D25-25CB-8D1A-94EB-74718CE0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C1F31E-B9BC-4785-E512-27040656C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91A52C-1F5B-AEF8-4958-54658E57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51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4C1317-79F4-7B86-7AE3-AC01C72B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B13CEB9-91B1-3764-D166-81434371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F37FB-E6FF-AAB3-A589-6CF44997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43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51FC1-2164-11D2-7187-A87CA1FA9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8FD19-185E-BA2E-718B-41A9ABB2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396274-33C7-37A7-3693-21604FD7E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E4822-1D3C-D6B1-F72D-4352B828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ED32B1-7252-6424-0B84-ABB668EF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6B223E-2B27-0546-FE2C-36910E2E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4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4A8C4-0BEF-D727-CCA0-7E4D40A4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60F526-5AD8-8C6B-9D65-292E98F06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BBA80F-83F6-D7CC-1858-7706B4A9C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BF7683-C308-6BA6-F3A4-1B47E3DD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445F22-4712-711C-EA30-93C51BEA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080CFD-53D9-4910-848D-1F13EA60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5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90F9A-452C-F71E-3E32-87A86B1C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4C59FC-D6C7-0B3E-BE65-8DBEA8B90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42FC50-A272-3CDD-E25F-6A25890B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493820-355B-0DBB-2D95-60477F5C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66AB92-3551-3247-0027-18393227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33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C23303-432C-F01C-5F57-002C6A6E6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D52A8C-A40F-E384-0D81-E0487668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7F5CCB-65EB-FFED-4AB5-3A5624F7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864FAD-0F7B-54D0-A79A-61A6E591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D7C83B-30E2-317A-6749-B7F77037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304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4015B3-F651-CE50-2BA9-F03B1924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711F5A-69DA-7CF1-793D-38FAB75CA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BDFBFB-3AF3-A839-B289-17A63BAC5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7BFC8-F321-C648-AA2A-F333251299CB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3D2E86-97DF-3965-7DFD-6BDB5F3FB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DF5E2C-66AB-D89D-7F95-C83AB39CE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1DD72-8B3F-6041-BBB6-CF369CDA8A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98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ntendo Diagrama&#10;&#10;Descrição gerada automaticamente">
            <a:extLst>
              <a:ext uri="{FF2B5EF4-FFF2-40B4-BE49-F238E27FC236}">
                <a16:creationId xmlns:a16="http://schemas.microsoft.com/office/drawing/2014/main" id="{A5790FB3-5115-481A-B15D-9322346F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5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Tela de computador com luz vermelha&#10;&#10;Descrição gerada automaticamente com confiança baixa">
            <a:extLst>
              <a:ext uri="{FF2B5EF4-FFF2-40B4-BE49-F238E27FC236}">
                <a16:creationId xmlns:a16="http://schemas.microsoft.com/office/drawing/2014/main" id="{BB2531B4-E870-4DFC-A80F-D8B595AF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FDED755-8255-A721-B26A-618410378B9C}"/>
              </a:ext>
            </a:extLst>
          </p:cNvPr>
          <p:cNvSpPr txBox="1"/>
          <p:nvPr/>
        </p:nvSpPr>
        <p:spPr>
          <a:xfrm>
            <a:off x="3977639" y="1051560"/>
            <a:ext cx="7818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AUTOMAÇÃO DE TRANSCRIÇÃO E ANÁLISE DE REUNIÕES UTILIZANDO INTELIGÊNCIA ARTIFICIAL</a:t>
            </a:r>
            <a:endParaRPr lang="pt-BR" sz="2600" b="1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Matheus Barbosa Meloni  —  aluno pesquisador</a:t>
            </a:r>
          </a:p>
          <a:p>
            <a:pPr algn="ctr"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Prof. Victor Inácio de Oliveira  —  orientador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Escola de Engenharia  |  Engenharia da Computação  |  Campus Higienópolis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Programa de Iniciação Científica (PIBIC/PIVIC) 2025–2026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Apoio institucional: Universidade Presbiteriana Mackenzie / CNPq</a:t>
            </a:r>
          </a:p>
        </p:txBody>
      </p:sp>
    </p:spTree>
    <p:extLst>
      <p:ext uri="{BB962C8B-B14F-4D97-AF65-F5344CB8AC3E}">
        <p14:creationId xmlns:p14="http://schemas.microsoft.com/office/powerpoint/2010/main" val="253918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1828800" y="0"/>
            <a:ext cx="853135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400" b="1">
                <a:solidFill>
                  <a:srgbClr val="111A24"/>
                </a:solidFill>
                <a:latin typeface="Arial"/>
              </a:rPr>
              <a:t>INTRODUÇÃO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005840"/>
            <a:ext cx="9555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Problema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Reuniões concentram decisões, pendências e encaminhamentos, mas o registro depende de anotação manual: é custoso, parcial e raramente rastreável ao que foi efetivamente dito.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Contexto tecnológico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▪ Reconhecimento automático de fala (ASR) atingiu robustez multilíngue com modelos tipo Whisper.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▪ Embeddings de sentença (Sentence-BERT) permitem medir proximidade semântica entre trechos.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▪ Modelos seq2seq (T5) permitem condensar texto sob instrução em linguagem natural.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Lacuna identificada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As soluções comerciais equivalentes são proprietárias, orientadas ao inglês e dependentes de nuvem — o que impede auditoria do processo e levanta restrições de privacidade sobre o áudio.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Objetivo geral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Desenvolver um sistema modular, reprodutível e executável localmente que converta áudio de reunião em português em documentação acionável: decisões, pendências e próximos passos.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Objetivos específicos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– Integrar ASR, estruturação semântica e sumarização num pipeline único e instrumentado.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– Isolar o núcleo de IA das camadas de uso, tornando-o reutilizável e testável.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– Definir um protocolo de avaliação reprodutível para medir desempenho e qualidade.</a:t>
            </a:r>
          </a:p>
        </p:txBody>
      </p:sp>
    </p:spTree>
    <p:extLst>
      <p:ext uri="{BB962C8B-B14F-4D97-AF65-F5344CB8AC3E}">
        <p14:creationId xmlns:p14="http://schemas.microsoft.com/office/powerpoint/2010/main" val="14290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1828800" y="0"/>
            <a:ext cx="853135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400" b="1">
                <a:solidFill>
                  <a:srgbClr val="111A24"/>
                </a:solidFill>
                <a:latin typeface="Arial"/>
              </a:rPr>
              <a:t>METODOLOGIA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32688"/>
            <a:ext cx="9555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Arquitetura do pipeline — cinco estágios encadeados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371600"/>
            <a:ext cx="95554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1.  Pré-processamento do áudio (librosa) — remoção de silêncio nas extremidades (top_db = 25), normalização de pico, subtração espectral em blocos de 60 s e reamostragem para 16 kHz mono.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2.  Transcrição / ASR (faster-whisper) — decodificação por feixe (beam_size = 5), filtro de atividade de voz (VAD) e idioma fixado em pt; saída segmentada com marcação temporal.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3.  Estruturação semântica (Sentence-BERT) — janelas deslizantes de 500 tokens com sobreposição de 50; cada janela vira um vetor normalizado em L2.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4.  Agrupamento temático — similaridade de cosseno contra limiar de 0,78, com fusão incremental gulosa; cada bloco é remapeado ao eixo temporal da reunião.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5.  Sumarização (T5-small local, ou API externa por configuração) — três instruções fixas: decisões, pendências e próximos passos, mais uma visão geral.</a:t>
            </a:r>
          </a:p>
        </p:txBody>
      </p:sp>
      <p:pic>
        <p:nvPicPr>
          <p:cNvPr id="23" name="Picture 22" descr="pipeline_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70832"/>
            <a:ext cx="9555480" cy="140883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5742432"/>
            <a:ext cx="9555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i="1">
                <a:solidFill>
                  <a:srgbClr val="3C4855"/>
                </a:solidFill>
                <a:latin typeface="Arial"/>
              </a:rPr>
              <a:t>Figura 1 — Fluxo de ponta a ponta do pipeline.</a:t>
            </a:r>
          </a:p>
        </p:txBody>
      </p:sp>
    </p:spTree>
    <p:extLst>
      <p:ext uri="{BB962C8B-B14F-4D97-AF65-F5344CB8AC3E}">
        <p14:creationId xmlns:p14="http://schemas.microsoft.com/office/powerpoint/2010/main" val="135398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1828800" y="0"/>
            <a:ext cx="853135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300" b="1">
                <a:solidFill>
                  <a:srgbClr val="111A24"/>
                </a:solidFill>
                <a:latin typeface="Arial"/>
              </a:rPr>
              <a:t>RESULTADOS E DISCUSSÃO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005840"/>
            <a:ext cx="9555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Entrega funcional: o que o sistema efetivamente faz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81328"/>
            <a:ext cx="95554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▪ Pipeline integrado e operacional de ponta a ponta, acessível por três vias: linha de comando, API REST (GET /health, POST /transcribe) e painel Streamlit, além de front-end web.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▪ Saídas produzidas por execução: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– transcrição com marcação temporal por segmento no formato [HH:MM:SS --&gt; HH:MM:SS];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– blocos semânticos rotulados, com intervalo de tempo aproximado na linha do tempo da reunião;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– resumo em três seções — decisões, pendências e próximos passos — mais uma visão geral;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– exportação em TXT, PDF e JSON, permitindo consumo humano e consumo por outro sistema.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▪ Robustez operacional: validação de upload (limite de 50 MiB e extensões .wav/.mp3/.m4a/.webm/.ogg), redução de ruído em blocos para gravações longas e empacotamento em Docker.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▪ Ferramentas de medição entregues: benchmark_pipeline.py agrega métricas de vários áudios em tabela; compare_whisper_models.py executa comparação A/B entre tamanhos de modelo.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i="1">
                <a:solidFill>
                  <a:srgbClr val="3C4855"/>
                </a:solidFill>
                <a:latin typeface="Arial"/>
              </a:rPr>
              <a:t>Discussão: a modularidade foi validada na prática — o agrupamento foi reimplementado em NumPy puro, eliminando a dependência de FAISS, sem qualquer alteração nas camadas de interface.</a:t>
            </a:r>
          </a:p>
        </p:txBody>
      </p:sp>
    </p:spTree>
    <p:extLst>
      <p:ext uri="{BB962C8B-B14F-4D97-AF65-F5344CB8AC3E}">
        <p14:creationId xmlns:p14="http://schemas.microsoft.com/office/powerpoint/2010/main" val="1626566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1828800" y="0"/>
            <a:ext cx="853135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400" b="1">
                <a:solidFill>
                  <a:srgbClr val="111A24"/>
                </a:solidFill>
                <a:latin typeface="Arial"/>
              </a:rPr>
              <a:t>CONSIDERAÇÕES FINAIS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005840"/>
            <a:ext cx="9555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Conclusão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O objetivo foi atingido no nível de sistema: existe um pipeline reprodutível que converte áudio de reunião em português em documentação estruturada e rastreável ao tempo do áudio, com instrumentação de desempenho em todas as etapas.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Contribuição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▪ Uma arquitetura de referência aberta e modular que integra ASR, estruturação semântica e sumarização, com privacidade configurável: no modo local o áudio e o texto não saem da máquina; recorrer a uma API externa é uma decisão explícita de configuração.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▪ Um protocolo de avaliação e ferramentas de medição que permitem comparar configurações de forma reprodutível, e não apenas relatar uma execução isolada.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Aprendizados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▪ A separação entre núcleo de IA e camadas de uso foi decisiva para evoluir o sistema sem retrabalho.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▪ Medir por etapa, e não apenas o tempo total, foi o que revelou onde o custo realmente está.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Trabalhos futuros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– sumarizador instruído em português (mT5/PTT5 ou modelo de linguagem com prompt estruturado);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– diarização de falantes, para atribuir decisões a seus responsáveis;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– agrupamento com otimização global, substituindo a estratégia gulosa por limiar;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– avaliação com WER/CER sobre corpus anotado e julgamento humano do resumo por múltiplos avaliadores.</a:t>
            </a:r>
          </a:p>
        </p:txBody>
      </p:sp>
    </p:spTree>
    <p:extLst>
      <p:ext uri="{BB962C8B-B14F-4D97-AF65-F5344CB8AC3E}">
        <p14:creationId xmlns:p14="http://schemas.microsoft.com/office/powerpoint/2010/main" val="1750683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1828800" y="0"/>
            <a:ext cx="853135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400" b="1">
                <a:solidFill>
                  <a:srgbClr val="111A24"/>
                </a:solidFill>
                <a:latin typeface="Arial"/>
              </a:rPr>
              <a:t>REFERÊNCIAS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005840"/>
            <a:ext cx="9555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ALEMI, A. A.; GINSPARG, P. Text segmentation based on semantic word embeddings. arXiv:1503.05543, 2015.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McFEE, B. et al. librosa: audio and music signal analysis in Python. In: PROCEEDINGS OF THE 14th PYTHON IN SCIENCE CONFERENCE (SciPy), 2015. p. 18-25.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RADFORD, A. et al. Robust speech recognition via large-scale weak supervision. arXiv:2212.04356, 2022.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RAFFEL, C. et al. Exploring the limits of transfer learning with a unified text-to-text transformer. Journal of Machine Learning Research, v. 21, n. 140, p. 1-67, 2020.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50">
                <a:solidFill>
                  <a:srgbClr val="111A24"/>
                </a:solidFill>
                <a:latin typeface="Arial"/>
              </a:rPr>
              <a:t>REIMERS, N.; GUREVYCH, I. Sentence-BERT: sentence embeddings using Siamese BERT-networks. In: PROCEEDINGS OF THE 2019 CONFERENCE ON EMPIRICAL METHODS IN NATURAL LANGUAGE PROCESSING (EMNLP-IJCNLP), 2019. p. 3982-3992.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i="1">
                <a:solidFill>
                  <a:srgbClr val="3C4855"/>
                </a:solidFill>
                <a:latin typeface="Arial"/>
              </a:rPr>
              <a:t>Conferir a formatação final conforme a NBR 6023 adotada pela unidade acadêmica.</a:t>
            </a:r>
          </a:p>
        </p:txBody>
      </p:sp>
    </p:spTree>
    <p:extLst>
      <p:ext uri="{BB962C8B-B14F-4D97-AF65-F5344CB8AC3E}">
        <p14:creationId xmlns:p14="http://schemas.microsoft.com/office/powerpoint/2010/main" val="342234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2A4757-30D5-0234-22F9-2CEA6D299D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F1434D6-B2CE-DEF1-07F5-C620569B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356" y="2825393"/>
            <a:ext cx="2779643" cy="80189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F1084F2-C2F0-2B60-4D13-39D9BFE20F95}"/>
              </a:ext>
            </a:extLst>
          </p:cNvPr>
          <p:cNvSpPr txBox="1"/>
          <p:nvPr/>
        </p:nvSpPr>
        <p:spPr>
          <a:xfrm>
            <a:off x="3544499" y="350868"/>
            <a:ext cx="5103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Helvetica" pitchFamily="2" charset="0"/>
              </a:rPr>
              <a:t>AGRADECIMENTOS</a:t>
            </a:r>
          </a:p>
        </p:txBody>
      </p:sp>
      <p:pic>
        <p:nvPicPr>
          <p:cNvPr id="9" name="Imagem 8" descr="Logotipo, nome da empresa&#10;&#10;Descrição gerada automaticamente">
            <a:extLst>
              <a:ext uri="{FF2B5EF4-FFF2-40B4-BE49-F238E27FC236}">
                <a16:creationId xmlns:a16="http://schemas.microsoft.com/office/drawing/2014/main" id="{58992B6A-601F-43DE-A820-FEDC560B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191" y="2477946"/>
            <a:ext cx="1383138" cy="10389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069080"/>
            <a:ext cx="96286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À Universidade Presbiteriana Mackenzie e ao Programa de Iniciação Científica, pelo apoio institucional à pesquisa.</a:t>
            </a:r>
          </a:p>
          <a:p>
            <a:pPr algn="ctr">
              <a:spcBef>
                <a:spcPts val="300"/>
              </a:spcBef>
              <a:spcAft>
                <a:spcPts val="2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Ao Prof. Victor Inácio de Oliveira, pela orientação ao longo do projeto.</a:t>
            </a:r>
          </a:p>
        </p:txBody>
      </p:sp>
    </p:spTree>
    <p:extLst>
      <p:ext uri="{BB962C8B-B14F-4D97-AF65-F5344CB8AC3E}">
        <p14:creationId xmlns:p14="http://schemas.microsoft.com/office/powerpoint/2010/main" val="2671604789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1828800" y="0"/>
            <a:ext cx="853135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400" b="1">
                <a:solidFill>
                  <a:srgbClr val="111A24"/>
                </a:solidFill>
                <a:latin typeface="Arial"/>
              </a:rPr>
              <a:t>METODOLOGIA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32688"/>
            <a:ext cx="9555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Arquitetura em camadas, reprodutibilidade e verificação</a:t>
            </a:r>
          </a:p>
        </p:txBody>
      </p:sp>
      <p:pic>
        <p:nvPicPr>
          <p:cNvPr id="22" name="Picture 21" descr="arquitetura_cam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16736"/>
            <a:ext cx="3783122" cy="44988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5852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i="1">
                <a:solidFill>
                  <a:srgbClr val="3C4855"/>
                </a:solidFill>
                <a:latin typeface="Arial"/>
              </a:rPr>
              <a:t>Figura 2 — As quatro camadas funcionais.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1335024"/>
            <a:ext cx="55595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▪ Arquitetura em camadas — o núcleo de IA (src/) é independente das camadas de uso (linha de comando, API FastAPI, painel Streamlit, front-end Next.js) e pode ser testado sem subir interface.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▪ Configuração externalizada — modelo de ASR, embeddings, sumarizador, tamanho de janela, sobreposição e limiar de similaridade são variáveis de ambiente: uma rodada experimental é descrita por variáveis, não por alteração de código.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▪ Instrumentação — toda execução devolve stage_timings, com o tempo de cada etapa do pipeline e o tempo total de parede.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▪ Verificação — suíte automatizada em pytest com dublês de modelos: 15 testes em 6 módulos, cobrindo transcrição, embeddings, sumarização, upload, API e integração.</a:t>
            </a:r>
          </a:p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▪ Protocolo experimental — 2 a 4 cenários de áudio com perfis distintos; cada perfil estressa uma etapa diferente do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B00C5E04-0AAC-4184-9C64-DAA17829A5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B3662F6-39E5-4750-B191-3D8B31C78312}"/>
              </a:ext>
            </a:extLst>
          </p:cNvPr>
          <p:cNvSpPr txBox="1">
            <a:spLocks/>
          </p:cNvSpPr>
          <p:nvPr/>
        </p:nvSpPr>
        <p:spPr>
          <a:xfrm>
            <a:off x="1828800" y="0"/>
            <a:ext cx="8531352" cy="5819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300" b="1">
                <a:solidFill>
                  <a:srgbClr val="111A24"/>
                </a:solidFill>
                <a:latin typeface="Arial"/>
              </a:rPr>
              <a:t>RESULTADOS E DISCUSSÃO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32688"/>
            <a:ext cx="9555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Custo computacional por etapa, achado principal e limitações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1371600"/>
          <a:ext cx="9281160" cy="2084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98448"/>
                <a:gridCol w="1389888"/>
                <a:gridCol w="1435608"/>
                <a:gridCol w="2871216"/>
              </a:tblGrid>
              <a:tr h="2606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Etapa do pipeline</a:t>
                      </a:r>
                    </a:p>
                  </a:txBody>
                  <a:tcPr anchor="ctr" marL="45720" marR="45720">
                    <a:solidFill>
                      <a:srgbClr val="E41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A1 — 2 min</a:t>
                      </a:r>
                    </a:p>
                  </a:txBody>
                  <a:tcPr anchor="ctr" marL="45720" marR="45720">
                    <a:solidFill>
                      <a:srgbClr val="E41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A3 — 5 min</a:t>
                      </a:r>
                    </a:p>
                  </a:txBody>
                  <a:tcPr anchor="ctr" marL="45720" marR="45720">
                    <a:solidFill>
                      <a:srgbClr val="E41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A2 — 10 min</a:t>
                      </a:r>
                    </a:p>
                  </a:txBody>
                  <a:tcPr anchor="ctr" marL="45720" marR="45720">
                    <a:solidFill>
                      <a:srgbClr val="E418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Escala com a duração?</a:t>
                      </a:r>
                    </a:p>
                  </a:txBody>
                  <a:tcPr anchor="ctr" marL="45720" marR="45720">
                    <a:solidFill>
                      <a:srgbClr val="E4184B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Pré-processamento do áudio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1,2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2,7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7,1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Linear (~1% da duração)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Transcrição / ASR (Whisper)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20–40 s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45–105 s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90–210 s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Linear — etapa dominante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Análise semântica + exportação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2–4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2–4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3–5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Fraca (nº de janelas)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Sumarização (T5)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25–50 s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25–50 s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25–50 s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Constante (contexto ≤ 300 tokens)</a:t>
                      </a:r>
                    </a:p>
                  </a:txBody>
                  <a:tcPr anchor="ctr" marL="45720" marR="45720">
                    <a:solidFill>
                      <a:srgbClr val="F2F4F6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Tempo total de parede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49–94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76–161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126–271 s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A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RTF (total ÷ duração)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0,41–0,78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0,25–0,54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0,21–0,45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Melhora com a duração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Blocos semânticos gerados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4184B"/>
                          </a:solidFill>
                          <a:latin typeface="Arial"/>
                        </a:rPr>
                        <a:t>1 janela a cada 450 tokens</a:t>
                      </a:r>
                    </a:p>
                  </a:txBody>
                  <a:tcPr anchor="ctr" marL="45720" marR="45720">
                    <a:solidFill>
                      <a:srgbClr val="FDE8E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3493008"/>
            <a:ext cx="9555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sz="1250" i="1">
                <a:solidFill>
                  <a:srgbClr val="3C4855"/>
                </a:solidFill>
                <a:latin typeface="Arial"/>
              </a:rPr>
              <a:t>Tabela 1 — Pré-processamento medido no próprio pipeline (CPU x86-64, 4 núcleos @ 2,1 GHz, sem GPU); blocos calculados de chunk_size = 500 / overlap = 50; demais etapas projetadas para a mesma classe de hardware.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95344"/>
            <a:ext cx="9555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500"/>
              </a:spcBef>
              <a:spcAft>
                <a:spcPts val="100"/>
              </a:spcAft>
            </a:pPr>
            <a:r>
              <a:rPr sz="1500">
                <a:solidFill>
                  <a:srgbClr val="111A24"/>
                </a:solidFill>
                <a:latin typeface="Arial"/>
              </a:rPr>
              <a:t>▪ Achado: o custo é dominado pela transcrição e cresce linearmente, enquanto a sumarização é constante — o recorte de contexto em 300 tokens a torna independente do tamanho da reunião. Por isso o RTF melhora conforme a reunião cresce.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35424"/>
            <a:ext cx="9555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1600">
                <a:solidFill>
                  <a:srgbClr val="E4184B"/>
                </a:solidFill>
                <a:latin typeface="Arial"/>
              </a:rPr>
              <a:t>Limitações e ameaças à validade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– Reuniões abaixo de ~3 min geram uma única janela: o agrupamento semântico não atua.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– Agrupamento guloso por limiar e sumarizador T5 pequeno, treinado majoritariamente em inglês — é o gargalo de qualidade do resultado final.</a:t>
            </a:r>
          </a:p>
          <a:p>
            <a:pPr marL="475488" indent="-173736">
              <a:spcBef>
                <a:spcPts val="200"/>
              </a:spcBef>
              <a:spcAft>
                <a:spcPts val="100"/>
              </a:spcAft>
            </a:pPr>
            <a:r>
              <a:rPr sz="1350">
                <a:solidFill>
                  <a:srgbClr val="3C4855"/>
                </a:solidFill>
                <a:latin typeface="Arial"/>
              </a:rPr>
              <a:t>– Ausência de diarização; tempos projetados ainda não confirmados em rodada controlada.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23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ARTHUR PEREIRA GONCALVES</dc:creator>
  <cp:lastModifiedBy>lari.trabalhoss@gmail.com</cp:lastModifiedBy>
  <cp:revision>10</cp:revision>
  <dcterms:created xsi:type="dcterms:W3CDTF">2026-03-04T19:11:38Z</dcterms:created>
  <dcterms:modified xsi:type="dcterms:W3CDTF">2026-09-11T13:54:18Z</dcterms:modified>
</cp:coreProperties>
</file>